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58" r:id="rId6"/>
    <p:sldId id="261" r:id="rId7"/>
    <p:sldId id="269" r:id="rId18"/>
    <p:sldId id="265" r:id="rId8"/>
    <p:sldId id="259" r:id="rId9"/>
    <p:sldId id="267" r:id="rId10"/>
    <p:sldId id="266" r:id="rId11"/>
    <p:sldId id="260" r:id="rId12"/>
    <p:sldId id="262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image" Target="../media/image2.jpe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Title:</a:t>
            </a:r>
            <a:r>
              <a:rPr lang="en-IN" sz="4000" b="1" dirty="0">
                <a:solidFill>
                  <a:srgbClr val="FF0000"/>
                </a:solidFill>
              </a:rPr>
              <a:t>EVENTORA – EVENT MANAGEMENT SYSTEM</a:t>
            </a:r>
            <a:br>
              <a:rPr lang="en-IN" sz="4000" dirty="0"/>
            </a:b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61295" y="3164909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14 (Section 6)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2520030385  </a:t>
            </a:r>
            <a:r>
              <a:rPr lang="en-US" dirty="0" err="1">
                <a:solidFill>
                  <a:srgbClr val="0070C0"/>
                </a:solidFill>
              </a:rPr>
              <a:t>P.Tanvitha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2520030132 – </a:t>
            </a:r>
            <a:r>
              <a:rPr lang="en-US" dirty="0" err="1">
                <a:solidFill>
                  <a:srgbClr val="0070C0"/>
                </a:solidFill>
              </a:rPr>
              <a:t>N.Tejasri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2520030018 – </a:t>
            </a:r>
            <a:r>
              <a:rPr lang="en-US" dirty="0" err="1">
                <a:solidFill>
                  <a:srgbClr val="0070C0"/>
                </a:solidFill>
              </a:rPr>
              <a:t>P.Laxmikanth</a:t>
            </a:r>
            <a:endParaRPr lang="en-US" dirty="0">
              <a:solidFill>
                <a:srgbClr val="0070C0"/>
              </a:solidFill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Dr. V. Sireesha, Professor, Department of CSE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IN" sz="2200"/>
              <a:t>Abstract</a:t>
            </a:r>
          </a:p>
          <a:p>
            <a:pPr marL="342900" indent="-342900">
              <a:buFont typeface="Arial"/>
              <a:buChar char="•"/>
            </a:pPr>
            <a:r>
              <a:rPr lang="en-IN" sz="2200"/>
              <a:t>Introduction</a:t>
            </a:r>
          </a:p>
          <a:p>
            <a:pPr marL="342900" indent="-342900">
              <a:buFont typeface="Arial"/>
              <a:buChar char="•"/>
            </a:pPr>
            <a:r>
              <a:rPr lang="en-IN" sz="2200"/>
              <a:t>Literature survey</a:t>
            </a:r>
          </a:p>
          <a:p>
            <a:pPr marL="342900" indent="-342900">
              <a:buFont typeface="Arial"/>
              <a:buChar char="•"/>
            </a:pPr>
            <a:r>
              <a:rPr lang="en-IN" sz="2200"/>
              <a:t>Problem Statement and Objectives</a:t>
            </a:r>
          </a:p>
          <a:p>
            <a:pPr marL="342900" indent="-342900">
              <a:buFont typeface="Arial"/>
              <a:buChar char="•"/>
            </a:pPr>
            <a:r>
              <a:rPr lang="en-IN" sz="2200"/>
              <a:t>Course Outcomes (CO1–CO6)</a:t>
            </a:r>
          </a:p>
          <a:p>
            <a:pPr marL="342900" indent="-342900">
              <a:buFont typeface="Arial"/>
              <a:buChar char="•"/>
            </a:pPr>
            <a:r>
              <a:rPr lang="en-IN" sz="2200"/>
              <a:t>Results</a:t>
            </a:r>
          </a:p>
          <a:p>
            <a:pPr marL="342900" indent="-342900">
              <a:buFont typeface="Arial"/>
              <a:buChar char="•"/>
            </a:pPr>
            <a:r>
              <a:rPr lang="en-IN" sz="2200"/>
              <a:t>Hardware and Software requirements</a:t>
            </a:r>
          </a:p>
          <a:p>
            <a:pPr marL="342900" indent="-342900">
              <a:buFont typeface="Arial"/>
              <a:buChar char="•"/>
            </a:pPr>
            <a:r>
              <a:rPr lang="en-IN" sz="2200"/>
              <a:t>Conclusion</a:t>
            </a:r>
          </a:p>
          <a:p>
            <a:pPr marL="342900" indent="-342900">
              <a:buFont typeface="Arial"/>
              <a:buChar char="•"/>
            </a:pPr>
            <a:r>
              <a:rPr lang="en-IN" sz="2200"/>
              <a:t>Future Scope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4735" y="1859339"/>
            <a:ext cx="98525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IN" b="1" sz="2000"/>
              <a:t>Eventora is a web application to explore, search, book and schedule events.</a:t>
            </a:r>
          </a:p>
          <a:p>
            <a:pPr>
              <a:buNone/>
            </a:pPr>
            <a:endParaRPr lang="en-IN" sz="1000"/>
          </a:p>
          <a:p>
            <a:pPr marL="342900" indent="-342900">
              <a:buFont typeface="Arial"/>
              <a:buChar char="•"/>
            </a:pPr>
            <a:r>
              <a:rPr lang="en-IN" b="1" sz="2000"/>
              <a:t>Pattern Matching (KMP, Z-function, Rabin–Karp) finds exact keywords in event information.</a:t>
            </a:r>
          </a:p>
          <a:p>
            <a:pPr>
              <a:buNone/>
            </a:pPr>
            <a:endParaRPr lang="en-IN" sz="1000"/>
          </a:p>
          <a:p>
            <a:pPr marL="342900" indent="-342900">
              <a:buFont typeface="Arial"/>
              <a:buChar char="•"/>
            </a:pPr>
            <a:r>
              <a:rPr lang="en-IN" b="1" sz="2000"/>
              <a:t>Fuzzy Search (Levenshtein edit distance) finds results even with spelling mistakes.</a:t>
            </a:r>
          </a:p>
          <a:p>
            <a:pPr>
              <a:buNone/>
            </a:pPr>
            <a:endParaRPr lang="en-IN" sz="1000"/>
          </a:p>
          <a:p>
            <a:pPr marL="342900" indent="-342900">
              <a:buFont typeface="Arial"/>
              <a:buChar char="•"/>
            </a:pPr>
            <a:r>
              <a:rPr lang="en-IN" b="1" sz="2000"/>
              <a:t>Similarity and Ranking order events by relevance, favorites and featured status.</a:t>
            </a:r>
          </a:p>
          <a:p>
            <a:pPr>
              <a:buNone/>
            </a:pPr>
            <a:endParaRPr lang="en-IN" sz="1000"/>
          </a:p>
          <a:p>
            <a:pPr marL="342900" indent="-342900">
              <a:buFont typeface="Arial"/>
              <a:buChar char="•"/>
            </a:pPr>
            <a:r>
              <a:rPr lang="en-IN" b="1" sz="2000"/>
              <a:t>Built with React.js, JavaScript, HTML, CSS and Vite.</a:t>
            </a:r>
          </a:p>
          <a:p>
            <a:pPr>
              <a:buNone/>
            </a:pPr>
            <a:endParaRPr lang="en-IN" sz="1000"/>
          </a:p>
          <a:p>
            <a:pPr marL="342900" indent="-342900">
              <a:buFont typeface="Arial"/>
              <a:buChar char="•"/>
            </a:pPr>
            <a:r>
              <a:rPr lang="en-IN" b="1" sz="2000"/>
              <a:t>The project demonstrates practical applications of DSA-3 concepts.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0000" y="1500000"/>
            <a:ext cx="10400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/>
              <a:buChar char="•"/>
            </a:pPr>
            <a:r>
              <a:rPr lang="en-IN" sz="2400"/>
              <a:t>Eventora makes event searching, booking and scheduling easier, faster and more efficient.</a:t>
            </a:r>
          </a:p>
          <a:p>
            <a:pPr marL="342900" indent="-342900">
              <a:spcAft>
                <a:spcPts val="1400"/>
              </a:spcAft>
              <a:buFont typeface="Arial"/>
              <a:buChar char="•"/>
            </a:pPr>
            <a:r>
              <a:rPr lang="en-IN" sz="2400"/>
              <a:t>It stores event name, category, date, venue, price and description in an organized way.</a:t>
            </a:r>
          </a:p>
          <a:p>
            <a:pPr marL="342900" indent="-342900">
              <a:spcAft>
                <a:spcPts val="1400"/>
              </a:spcAft>
              <a:buFont typeface="Arial"/>
              <a:buChar char="•"/>
            </a:pPr>
            <a:r>
              <a:rPr lang="en-IN" sz="2400"/>
              <a:t>Pattern matching, fuzzy search and similarity give accurate results even for misspelled queries.</a:t>
            </a:r>
          </a:p>
          <a:p>
            <a:pPr marL="342900" indent="-342900">
              <a:spcAft>
                <a:spcPts val="1400"/>
              </a:spcAft>
              <a:buFont typeface="Arial"/>
              <a:buChar char="•"/>
            </a:pPr>
            <a:r>
              <a:rPr lang="en-IN" sz="2400"/>
              <a:t>Users can favorite events, book tickets, create events and use a calendar.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656" y="1284052"/>
          <a:ext cx="10900000" cy="3980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00000"/>
                <a:gridCol w="4000000"/>
                <a:gridCol w="4000000"/>
              </a:tblGrid>
              <a:tr h="380000">
                <a:tc>
                  <a:txBody>
                    <a:bodyPr wrap="square"/>
                    <a:lstStyle/>
                    <a:p>
                      <a:r>
                        <a:rPr sz="1700" b="1"/>
                        <a:t>Existing Approach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 b="1"/>
                        <a:t>Technique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 b="1"/>
                        <a:t>Limitation</a:t>
                      </a:r>
                    </a:p>
                  </a:txBody>
                  <a:tcPr marT="40000" marB="40000"/>
                </a:tc>
              </a:tr>
              <a:tr h="720000">
                <a:tc>
                  <a:txBody>
                    <a:bodyPr wrap="square"/>
                    <a:lstStyle/>
                    <a:p>
                      <a:r>
                        <a:rPr sz="1700" b="1"/>
                        <a:t>Basic Event Search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/>
                        <a:t>Exact Matching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/>
                        <a:t>Cannot handle spelling errors</a:t>
                      </a:r>
                    </a:p>
                  </a:txBody>
                  <a:tcPr marT="40000" marB="40000"/>
                </a:tc>
              </a:tr>
              <a:tr h="720000">
                <a:tc>
                  <a:txBody>
                    <a:bodyPr wrap="square"/>
                    <a:lstStyle/>
                    <a:p>
                      <a:r>
                        <a:rPr sz="1700" b="1"/>
                        <a:t>Keyword Search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/>
                        <a:t>Pattern Matching (KMP, Z, Rabin–Karp)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/>
                        <a:t>Requires correct keywords</a:t>
                      </a:r>
                    </a:p>
                  </a:txBody>
                  <a:tcPr marT="40000" marB="40000"/>
                </a:tc>
              </a:tr>
              <a:tr h="720000">
                <a:tc>
                  <a:txBody>
                    <a:bodyPr wrap="square"/>
                    <a:lstStyle/>
                    <a:p>
                      <a:r>
                        <a:rPr sz="1700" b="1"/>
                        <a:t>Fuzzy Search Systems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/>
                        <a:t>Edit Distance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/>
                        <a:t>More computationally expensive</a:t>
                      </a:r>
                    </a:p>
                  </a:txBody>
                  <a:tcPr marT="40000" marB="40000"/>
                </a:tc>
              </a:tr>
              <a:tr h="720000">
                <a:tc>
                  <a:txBody>
                    <a:bodyPr wrap="square"/>
                    <a:lstStyle/>
                    <a:p>
                      <a:r>
                        <a:rPr sz="1700" b="1"/>
                        <a:t>Recommendation Systems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/>
                        <a:t>Similarity Algorithms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/>
                        <a:t>Requires comparison between records</a:t>
                      </a:r>
                    </a:p>
                  </a:txBody>
                  <a:tcPr marT="40000" marB="40000"/>
                </a:tc>
              </a:tr>
              <a:tr h="720000">
                <a:tc>
                  <a:txBody>
                    <a:bodyPr wrap="square"/>
                    <a:lstStyle/>
                    <a:p>
                      <a:r>
                        <a:rPr sz="1700" b="1"/>
                        <a:t>Proposed System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/>
                        <a:t>Pattern + Fuzzy + Similarity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700"/>
                        <a:t>Provides flexible event discovery</a:t>
                      </a:r>
                    </a:p>
                  </a:txBody>
                  <a:tcPr marT="40000" marB="4000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6021" y="1405410"/>
            <a:ext cx="103599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sz="1800"/>
              <a:t>Problem:</a:t>
            </a:r>
          </a:p>
          <a:p>
            <a:pPr>
              <a:buNone/>
            </a:pPr>
            <a:r>
              <a:rPr lang="en-IN" sz="1800"/>
              <a:t>Users find it difficult to find suitable events in large event lists. Exact keyword search cannot handle spelling mistakes or incomplete queries.</a:t>
            </a:r>
          </a:p>
          <a:p>
            <a:pPr>
              <a:buNone/>
            </a:pPr>
            <a:r>
              <a:rPr lang="en-IN" b="1" sz="1800"/>
              <a:t>Proposed Solution:</a:t>
            </a:r>
          </a:p>
          <a:p>
            <a:pPr>
              <a:buNone/>
            </a:pPr>
            <a:r>
              <a:rPr lang="en-IN" sz="1800"/>
              <a:t>Develop Eventora, an event system that uses pattern matching, fuzzy search and similarity algorithms to search, compare and recommend events.</a:t>
            </a:r>
          </a:p>
          <a:p>
            <a:pPr>
              <a:buNone/>
            </a:pPr>
            <a:r>
              <a:rPr lang="en-IN" b="1" sz="1800"/>
              <a:t>Objectives</a:t>
            </a:r>
          </a:p>
          <a:p>
            <a:pPr>
              <a:buNone/>
            </a:pPr>
            <a:r>
              <a:rPr lang="en-IN" b="1" sz="1800"/>
              <a:t>•  </a:t>
            </a:r>
            <a:r>
              <a:rPr lang="en-IN" sz="1800"/>
              <a:t>Create an event repository with booking and calendar features.</a:t>
            </a:r>
          </a:p>
          <a:p>
            <a:pPr>
              <a:buNone/>
            </a:pPr>
            <a:r>
              <a:rPr lang="en-IN" b="1" sz="1800"/>
              <a:t>•  </a:t>
            </a:r>
            <a:r>
              <a:rPr lang="en-IN" sz="1800"/>
              <a:t>Implement KMP, Z-function and Rabin–Karp for exact search.</a:t>
            </a:r>
          </a:p>
          <a:p>
            <a:pPr>
              <a:buNone/>
            </a:pPr>
            <a:r>
              <a:rPr lang="en-IN" b="1" sz="1800"/>
              <a:t>•  </a:t>
            </a:r>
            <a:r>
              <a:rPr lang="en-IN" sz="1800"/>
              <a:t>Use edit distance for fuzzy search and similarity for comparison.</a:t>
            </a:r>
          </a:p>
          <a:p>
            <a:pPr>
              <a:buNone/>
            </a:pPr>
            <a:r>
              <a:rPr lang="en-IN" b="1" sz="1800"/>
              <a:t>•  </a:t>
            </a:r>
            <a:r>
              <a:rPr lang="en-IN" sz="1800"/>
              <a:t>Rank events by relevance, favorites and featured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00" y="1100000"/>
            <a:ext cx="10900000" cy="52469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9770" y="1400783"/>
            <a:ext cx="1019458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IN" b="1" sz="2000"/>
              <a:t>Successfully created the Eventora event management application.</a:t>
            </a:r>
          </a:p>
          <a:p>
            <a:pPr>
              <a:buNone/>
            </a:pPr>
            <a:endParaRPr lang="en-IN" sz="1000"/>
          </a:p>
          <a:p>
            <a:pPr marL="342900" indent="-342900">
              <a:buFont typeface="Arial"/>
              <a:buChar char="•"/>
            </a:pPr>
            <a:r>
              <a:rPr lang="en-IN" b="1" sz="2000"/>
              <a:t>Events can be explored, searched, favorited, created and booked.</a:t>
            </a:r>
          </a:p>
          <a:p>
            <a:pPr>
              <a:buNone/>
            </a:pPr>
            <a:endParaRPr lang="en-IN" sz="1000"/>
          </a:p>
          <a:p>
            <a:pPr marL="342900" indent="-342900">
              <a:buFont typeface="Arial"/>
              <a:buChar char="•"/>
            </a:pPr>
            <a:r>
              <a:rPr lang="en-IN" b="1" sz="2000"/>
              <a:t>Pattern Matching identifies exact keywords in event information.</a:t>
            </a:r>
          </a:p>
          <a:p>
            <a:pPr>
              <a:buNone/>
            </a:pPr>
            <a:endParaRPr lang="en-IN" sz="1000"/>
          </a:p>
          <a:p>
            <a:pPr marL="342900" indent="-342900">
              <a:buFont typeface="Arial"/>
              <a:buChar char="•"/>
            </a:pPr>
            <a:r>
              <a:rPr lang="en-IN" b="1" sz="2000"/>
              <a:t>Fuzzy Search finds relevant events even with spelling mistakes.</a:t>
            </a:r>
          </a:p>
          <a:p>
            <a:pPr>
              <a:buNone/>
            </a:pPr>
            <a:endParaRPr lang="en-IN" sz="1000"/>
          </a:p>
          <a:p>
            <a:pPr marL="342900" indent="-342900">
              <a:buFont typeface="Arial"/>
              <a:buChar char="•"/>
            </a:pPr>
            <a:r>
              <a:rPr lang="en-IN" b="1" sz="2000"/>
              <a:t>Similarity and Ranking compare events and show the best results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3933" y="1595355"/>
            <a:ext cx="54085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sz="1900"/>
              <a:t>Hardware Requirements</a:t>
            </a:r>
          </a:p>
          <a:p>
            <a:pPr marL="342900" indent="-342900">
              <a:buFont typeface="Arial"/>
              <a:buChar char="•"/>
            </a:pPr>
            <a:r>
              <a:rPr lang="en-IN" sz="1900"/>
              <a:t>Processor: Intel i3 or above</a:t>
            </a:r>
          </a:p>
          <a:p>
            <a:pPr marL="342900" indent="-342900">
              <a:buFont typeface="Arial"/>
              <a:buChar char="•"/>
            </a:pPr>
            <a:r>
              <a:rPr lang="en-IN" sz="1900"/>
              <a:t>RAM: 4 GB minimum</a:t>
            </a:r>
          </a:p>
          <a:p>
            <a:pPr marL="342900" indent="-342900">
              <a:buFont typeface="Arial"/>
              <a:buChar char="•"/>
            </a:pPr>
            <a:r>
              <a:rPr lang="en-IN" sz="1900"/>
              <a:t>Storage: 10 GB available</a:t>
            </a:r>
          </a:p>
          <a:p>
            <a:pPr marL="342900" indent="-342900">
              <a:buFont typeface="Arial"/>
              <a:buChar char="•"/>
            </a:pPr>
            <a:r>
              <a:rPr lang="en-IN" sz="1900"/>
              <a:t>Keyboard and Mouse</a:t>
            </a:r>
          </a:p>
          <a:p>
            <a:pPr marL="342900" indent="-342900">
              <a:buFont typeface="Arial"/>
              <a:buChar char="•"/>
            </a:pPr>
            <a:r>
              <a:rPr lang="en-IN" sz="1900"/>
              <a:t>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7762" y="1554990"/>
            <a:ext cx="55934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sz="1900"/>
              <a:t>Software Requirements</a:t>
            </a:r>
          </a:p>
          <a:p>
            <a:pPr marL="342900" indent="-342900">
              <a:buFont typeface="Arial"/>
              <a:buChar char="•"/>
            </a:pPr>
            <a:r>
              <a:rPr lang="en-IN" sz="1900"/>
              <a:t>Operating System: Windows / Linux</a:t>
            </a:r>
          </a:p>
          <a:p>
            <a:pPr marL="342900" indent="-342900">
              <a:buFont typeface="Arial"/>
              <a:buChar char="•"/>
            </a:pPr>
            <a:r>
              <a:rPr lang="en-IN" sz="1900"/>
              <a:t>Language: JavaScript (React.js), HTML, CSS</a:t>
            </a:r>
          </a:p>
          <a:p>
            <a:pPr marL="342900" indent="-342900">
              <a:buFont typeface="Arial"/>
              <a:buChar char="•"/>
            </a:pPr>
            <a:r>
              <a:rPr lang="en-IN" sz="1900"/>
              <a:t>Build Tool: Vite</a:t>
            </a:r>
          </a:p>
          <a:p>
            <a:pPr marL="342900" indent="-342900">
              <a:buFont typeface="Arial"/>
              <a:buChar char="•"/>
            </a:pPr>
            <a:r>
              <a:rPr lang="en-IN" sz="1900"/>
              <a:t>IDE: VS Code</a:t>
            </a:r>
          </a:p>
          <a:p>
            <a:pPr marL="342900" indent="-342900">
              <a:buFont typeface="Arial"/>
              <a:buChar char="•"/>
            </a:pPr>
            <a:r>
              <a:rPr lang="en-IN" sz="1900"/>
              <a:t>Node.js and npm</a:t>
            </a:r>
          </a:p>
          <a:p>
            <a:pPr marL="342900" indent="-342900">
              <a:buFont typeface="Arial"/>
              <a:buChar char="•"/>
            </a:pPr>
            <a:r>
              <a:rPr lang="en-IN" sz="1900"/>
              <a:t>Git and GitHub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0000" y="1500000"/>
            <a:ext cx="10400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/>
              <a:buChar char="•"/>
            </a:pPr>
            <a:r>
              <a:rPr lang="en-IN" sz="2400"/>
              <a:t>Eventora provides an efficient and user-friendly way to manage, search and book events.</a:t>
            </a:r>
          </a:p>
          <a:p>
            <a:pPr marL="342900" indent="-342900">
              <a:spcAft>
                <a:spcPts val="1400"/>
              </a:spcAft>
              <a:buFont typeface="Arial"/>
              <a:buChar char="•"/>
            </a:pPr>
            <a:r>
              <a:rPr lang="en-IN" sz="2400"/>
              <a:t>It shows how Data Structures and Algorithms solve real-world problems using pattern matching, fuzzy search, similarity and ranking.</a:t>
            </a:r>
          </a:p>
          <a:p>
            <a:pPr marL="342900" indent="-342900">
              <a:spcAft>
                <a:spcPts val="1400"/>
              </a:spcAft>
              <a:buFont typeface="Arial"/>
              <a:buChar char="•"/>
            </a:pPr>
            <a:r>
              <a:rPr lang="en-IN" sz="2400"/>
              <a:t>Booking and calendar features make event management simple and organized.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35130" y="1034801"/>
            <a:ext cx="495867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IN" sz="1800"/>
              <a:t>Online payment gateway</a:t>
            </a:r>
          </a:p>
          <a:p>
            <a:pPr marL="342900" indent="-342900">
              <a:buFont typeface="Arial"/>
              <a:buChar char="•"/>
            </a:pPr>
            <a:r>
              <a:rPr lang="en-IN" sz="1800"/>
              <a:t>User authentication with backend</a:t>
            </a:r>
          </a:p>
          <a:p>
            <a:pPr marL="342900" indent="-342900">
              <a:buFont typeface="Arial"/>
              <a:buChar char="•"/>
            </a:pPr>
            <a:r>
              <a:rPr lang="en-IN" sz="1800"/>
              <a:t>Event reminders and notifications</a:t>
            </a:r>
          </a:p>
          <a:p>
            <a:pPr marL="342900" indent="-342900">
              <a:buFont typeface="Arial"/>
              <a:buChar char="•"/>
            </a:pPr>
            <a:r>
              <a:rPr lang="en-IN" sz="1800"/>
              <a:t>AI-based event recommendations</a:t>
            </a:r>
          </a:p>
          <a:p>
            <a:pPr marL="342900" indent="-342900">
              <a:buFont typeface="Arial"/>
              <a:buChar char="•"/>
            </a:pPr>
            <a:r>
              <a:rPr lang="en-IN" sz="1800"/>
              <a:t>Location-based event search</a:t>
            </a:r>
          </a:p>
          <a:p>
            <a:pPr marL="342900" indent="-342900">
              <a:buFont typeface="Arial"/>
              <a:buChar char="•"/>
            </a:pPr>
            <a:r>
              <a:rPr lang="en-IN" sz="1800"/>
              <a:t>Calendar sync</a:t>
            </a:r>
          </a:p>
          <a:p>
            <a:pPr marL="342900" indent="-342900">
              <a:buFont typeface="Arial"/>
              <a:buChar char="•"/>
            </a:pPr>
            <a:r>
              <a:rPr lang="en-IN" sz="1800"/>
              <a:t>Network flow for ticket allocation</a:t>
            </a:r>
          </a:p>
          <a:p>
            <a:pPr marL="342900" indent="-342900">
              <a:buFont typeface="Arial"/>
              <a:buChar char="•"/>
            </a:pPr>
            <a:r>
              <a:rPr lang="en-IN" sz="1800"/>
              <a:t>Advanced ranking algorithms</a:t>
            </a:r>
          </a:p>
          <a:p>
            <a:pPr marL="342900" indent="-342900">
              <a:buFont typeface="Arial"/>
              <a:buChar char="•"/>
            </a:pPr>
            <a:r>
              <a:rPr lang="en-IN" sz="1800"/>
              <a:t>Mobile application</a:t>
            </a:r>
          </a:p>
          <a:p>
            <a:pPr marL="342900" indent="-342900">
              <a:buFont typeface="Arial"/>
              <a:buChar char="•"/>
            </a:pPr>
            <a:r>
              <a:rPr lang="en-IN" sz="1800"/>
              <a:t>Database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  <a:endParaRPr lang="en-US" sz="32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Course Outcomes (CO1–CO6)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656" y="1000000"/>
          <a:ext cx="10900000" cy="4580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00000"/>
                <a:gridCol w="5000000"/>
                <a:gridCol w="5000000"/>
              </a:tblGrid>
              <a:tr h="380000">
                <a:tc>
                  <a:txBody>
                    <a:bodyPr wrap="square"/>
                    <a:lstStyle/>
                    <a:p>
                      <a:r>
                        <a:rPr sz="1600" b="1"/>
                        <a:t>CO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600" b="1"/>
                        <a:t>Topics Covered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600" b="1"/>
                        <a:t>Used in Eventora</a:t>
                      </a:r>
                    </a:p>
                  </a:txBody>
                  <a:tcPr marT="40000" marB="40000"/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 b="1"/>
                        <a:t>CO1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Problem signatures &amp; choosing an algorithm strategy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Search → string algorithms; schedule → DP; capacity → flow</a:t>
                      </a:r>
                    </a:p>
                  </a:txBody>
                  <a:tcPr marT="40000" marB="40000"/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 b="1"/>
                        <a:t>CO2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KMP, Z-function, Rabin–Karp; suffix array, LCP, suffix automaton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KMP / Z / Rabin–Karp in event search (implemented)</a:t>
                      </a:r>
                    </a:p>
                  </a:txBody>
                  <a:tcPr marT="40000" marB="40000"/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 b="1"/>
                        <a:t>CO3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Interval, bitmask, subset DP; DP on trees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Edit-distance DP in fuzzy search (implemented)</a:t>
                      </a:r>
                    </a:p>
                  </a:txBody>
                  <a:tcPr marT="40000" marB="40000"/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 b="1"/>
                        <a:t>CO4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Ford-Fulkerson, Edmonds-Karp, Dinic; max-flow / min-cut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Ticket capacity &amp; attendee allocation (design)</a:t>
                      </a:r>
                    </a:p>
                  </a:txBody>
                  <a:tcPr marT="40000" marB="40000"/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 b="1"/>
                        <a:t>CO5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P, NP, NP-complete, NP-hard; reductions; approximation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Event selection under budget (design)</a:t>
                      </a:r>
                    </a:p>
                  </a:txBody>
                  <a:tcPr marT="40000" marB="40000"/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 b="1"/>
                        <a:t>CO6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Las Vegas / Monte Carlo; parallel prefix sum, reduce, work-span</a:t>
                      </a:r>
                    </a:p>
                  </a:txBody>
                  <a:tcPr marT="40000" marB="40000"/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Hash-and-verify search; totals via reduce (partial)</a:t>
                      </a:r>
                    </a:p>
                  </a:txBody>
                  <a:tcPr marT="40000" marB="400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5520</Words>
  <Application>WPS Presentation</Application>
  <PresentationFormat>Widescreen</PresentationFormat>
  <Paragraphs>177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Gautami</vt:lpstr>
      <vt:lpstr>Calibri</vt:lpstr>
      <vt:lpstr>Calibri Light</vt:lpstr>
      <vt:lpstr>Microsoft YaHei</vt:lpstr>
      <vt:lpstr>Arial Unicode MS</vt:lpstr>
      <vt:lpstr>Office Theme</vt:lpstr>
      <vt:lpstr>       Data Structures and Algorithms -3 (25CS2103E)  Title:SMART EVENT MANAGEMENT SYSTEM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NALLA TEJASRI</cp:lastModifiedBy>
  <cp:revision>21</cp:revision>
  <dcterms:created xsi:type="dcterms:W3CDTF">2024-08-29T05:25:00Z</dcterms:created>
  <dcterms:modified xsi:type="dcterms:W3CDTF">2026-09-02T06:28:51Z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1033-12.1.0.28032</vt:lpwstr>
  </property>
</Properties>
</file>